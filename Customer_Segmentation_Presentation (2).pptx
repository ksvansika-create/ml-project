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64592" cy="164592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46304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128016" cy="128016"/>
          </a:xfrm>
          <a:prstGeom prst="ellipse">
            <a:avLst/>
          </a:prstGeom>
          <a:solidFill>
            <a:srgbClr val="CBD8E8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640080"/>
            <a:ext cx="91440" cy="9144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9144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1554480"/>
            <a:ext cx="109728" cy="10972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2286000"/>
            <a:ext cx="128016" cy="128016"/>
          </a:xfrm>
          <a:prstGeom prst="ellipse">
            <a:avLst/>
          </a:prstGeom>
          <a:solidFill>
            <a:srgbClr val="CBD8E8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73152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5669280"/>
            <a:ext cx="128016" cy="128016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6126480"/>
            <a:ext cx="91440" cy="91440"/>
          </a:xfrm>
          <a:prstGeom prst="ellipse">
            <a:avLst/>
          </a:prstGeom>
          <a:solidFill>
            <a:srgbClr val="CBD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47120" y="5760720"/>
            <a:ext cx="146304" cy="146304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0" y="621792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1965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423160"/>
            <a:ext cx="107259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731520" y="33649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K-Means and Hierarchical Clustering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0" y="3977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6EA5"/>
                </a:solidFill>
              </a:rPr>
              <a:t>•   •   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0" y="45262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Neha Sreekari</a:t>
            </a:r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Roll No: 2520090240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Sayee Vansika</a:t>
            </a:r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Roll No: 2520090239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52578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9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Mrs. Dyuti Banerjee, Assistant Professor, AI &amp; 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62636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at a Glance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mall customers with </a:t>
            </a:r>
            <a:pPr indent="0" marL="0">
              <a:buNone/>
            </a:pPr>
            <a:r>
              <a:rPr lang="en-US" sz="1450" b="1" i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pPr indent="0" marL="0">
              <a:buNone/>
            </a:pPr>
            <a:r>
              <a:rPr lang="en-US" sz="145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5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pPr indent="0" marL="0">
              <a:buNone/>
            </a:pPr>
            <a:r>
              <a:rPr lang="en-US" sz="145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turn raw customer data into actionable marketing segments.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85216" y="21488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813816" y="237744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53896" y="23500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2971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customers — income, spending score, age &amp; gender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4256" y="21488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62856" y="237744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62856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02936" y="23500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Pre-processing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0288" y="2971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handled, features standardized for fair distances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3296" y="21488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311896" y="237744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9" name="Text 17"/>
          <p:cNvSpPr/>
          <p:nvPr/>
        </p:nvSpPr>
        <p:spPr>
          <a:xfrm>
            <a:off x="8311896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51976" y="23500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39328" y="2971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via Elbow method, validated with Silhouette score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5216" y="4114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" y="43434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53896" y="43159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1248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 builds a dendrogram to reveal natural cluster count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34256" y="4114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/>
        </p:spPr>
      </p:sp>
      <p:sp>
        <p:nvSpPr>
          <p:cNvPr id="28" name="Shape 26"/>
          <p:cNvSpPr/>
          <p:nvPr/>
        </p:nvSpPr>
        <p:spPr>
          <a:xfrm>
            <a:off x="4562856" y="43434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9" name="Text 27"/>
          <p:cNvSpPr/>
          <p:nvPr/>
        </p:nvSpPr>
        <p:spPr>
          <a:xfrm>
            <a:off x="4562856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02936" y="43159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90288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scatter plots, with PCA for dimensionality reduction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83296" y="4114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/>
        </p:spPr>
      </p:sp>
      <p:sp>
        <p:nvSpPr>
          <p:cNvPr id="33" name="Shape 31"/>
          <p:cNvSpPr/>
          <p:nvPr/>
        </p:nvSpPr>
        <p:spPr>
          <a:xfrm>
            <a:off x="8311896" y="43434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4" name="Text 32"/>
          <p:cNvSpPr/>
          <p:nvPr/>
        </p:nvSpPr>
        <p:spPr>
          <a:xfrm>
            <a:off x="8311896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51976" y="43159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39328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High-spenders, budget shoppers &amp; average customers identified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efficient, Hierarchical is interpretable — together they give a complete view for targeted marketing.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2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 •  K-Means &amp; Hierarchical Clustering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today's competitive business environment, treating every customer the same leads to generic strategies that miss the mark. This project groups mall customers — by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annual income, and spending score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into meaningful segments using two unsupervised clustering techniques, then compares how well each one performs.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" y="278892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1979676" y="310896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9" name="Text 7"/>
          <p:cNvSpPr/>
          <p:nvPr/>
        </p:nvSpPr>
        <p:spPr>
          <a:xfrm>
            <a:off x="1979676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3816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Segments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5256" y="448056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natural customer groupings directly from the data, with no pre-labelled classes.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9976" y="278892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4436" y="310896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4" name="Text 12"/>
          <p:cNvSpPr/>
          <p:nvPr/>
        </p:nvSpPr>
        <p:spPr>
          <a:xfrm>
            <a:off x="5774436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08576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Two Methods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0016" y="448056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and Hierarchical clustering on the same dataset and evaluate both.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4736" y="278892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9569196" y="310896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9" name="Text 17"/>
          <p:cNvSpPr/>
          <p:nvPr/>
        </p:nvSpPr>
        <p:spPr>
          <a:xfrm>
            <a:off x="9569196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03336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Business Value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94776" y="448056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segment into an actionable marketing or retention strategy.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2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 •  K-Means &amp; Hierarchical Clustering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792224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737360" y="2011680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or Ubuntu 20.04 and above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587752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2779776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679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 or above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575304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3767328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36667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Notebook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737360" y="3986784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Notebook, Google Colab, or Visual Studio Code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562856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F7F8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4754880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46542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737360" y="4974336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Matplotlib, Seaborn, Scikit-learn, SciPy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5550408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F7F8F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1560" y="5742432"/>
            <a:ext cx="457200" cy="45720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5742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37360" y="5641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(optional)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737360" y="5961888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2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 •  K-Means &amp; Hierarchical Clustering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5840"/>
            <a:ext cx="146304" cy="146304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155448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1005840"/>
            <a:ext cx="146304" cy="146304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1645920"/>
            <a:ext cx="109728" cy="10972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669280"/>
            <a:ext cx="109728" cy="109728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5669280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Using K-Means and Hierarchical Clustering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41148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6EA5"/>
                </a:solidFill>
              </a:rPr>
              <a:t>•   •   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443484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Neha Sreekari</a:t>
            </a:r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Roll No: 2520090240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Sayee Vansika</a:t>
            </a:r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Roll No: 2520090239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 •  K-Means &amp; Hierarchical Clustering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2026-08-17T03:43:24Z</dcterms:created>
  <dcterms:modified xsi:type="dcterms:W3CDTF">2026-08-17T03:43:24Z</dcterms:modified>
</cp:coreProperties>
</file>